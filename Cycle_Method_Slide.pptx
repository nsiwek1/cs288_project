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Cycle Method: CycleGAN for Dialect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Using cycle-consistent neural networks to quantify acoustic differences in chimpanzee pant-hoots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087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4B"/>
                </a:solidFill>
                <a:latin typeface="Calibri"/>
              </a:defRPr>
            </a:pPr>
            <a:r>
              <a:t>What is CycleGAN?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A neural network that learns to translate between two domains without paired examples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Two generators learn opposite mappings:</a:t>
            </a:r>
            <a:br/>
            <a:r>
              <a:t>   G₁: Pant → Hoot    G₂: Hoot → Pant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Enforces cycle consistency: translating back and forth should recover the original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4048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4B"/>
                </a:solidFill>
                <a:latin typeface="Calibri"/>
              </a:defRPr>
            </a:pPr>
            <a: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• Train the cycle on one community (Kasekela)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• Apply it to calls from other communities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• Cycle reconstruction error = dialect distance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• Low error → fits learned pattern (same dialect)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• High error → doesn't fit (different dialect)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5C2E"/>
                </a:solidFill>
              </a:defRPr>
            </a:pPr>
            <a:r>
              <a:t>Hypothesis: Cycle loss ordering</a:t>
            </a:r>
          </a:p>
          <a:p>
            <a:pPr algn="ctr">
              <a:defRPr sz="1400" b="1">
                <a:solidFill>
                  <a:srgbClr val="C05C2E"/>
                </a:solidFill>
              </a:defRPr>
            </a:pPr>
            <a:r>
              <a:t>Kasekela &lt; Mitumba &lt; Kanyawara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864B"/>
                </a:solidFill>
                <a:latin typeface="Calibri"/>
              </a:defRPr>
            </a:pPr>
            <a:r>
              <a:t>The Cycle (Illustrated)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77440"/>
            <a:ext cx="1371600" cy="640080"/>
          </a:xfrm>
          <a:prstGeom prst="roundRect">
            <a:avLst/>
          </a:prstGeom>
          <a:solidFill>
            <a:srgbClr val="2E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Pant</a:t>
            </a:r>
            <a:br/>
            <a:r>
              <a:t>(Buildup)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377440"/>
            <a:ext cx="1371600" cy="640080"/>
          </a:xfrm>
          <a:prstGeom prst="roundRect">
            <a:avLst/>
          </a:prstGeom>
          <a:solidFill>
            <a:srgbClr val="C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Hoot</a:t>
            </a:r>
            <a:br/>
            <a:r>
              <a:t>(Climax)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749039"/>
            <a:ext cx="1371600" cy="640080"/>
          </a:xfrm>
          <a:prstGeom prst="roundRect">
            <a:avLst/>
          </a:prstGeom>
          <a:solidFill>
            <a:srgbClr val="2E864B"/>
          </a:solidFill>
          <a:ln>
            <a:solidFill>
              <a:srgbClr val="2E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Reconstructed</a:t>
            </a:r>
            <a:br/>
            <a:r>
              <a:t>Pant ≈ Original?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B6CB3"/>
                </a:solidFill>
                <a:latin typeface="Calibri"/>
              </a:defRPr>
            </a:pPr>
            <a:r>
              <a:t>G₁: Pant → Hoot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B6CB3"/>
                </a:solidFill>
                <a:latin typeface="Calibri"/>
              </a:defRPr>
            </a:pPr>
            <a:r>
              <a:t>G₂: Hoot → Pant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B6CB3"/>
                </a:solidFill>
                <a:latin typeface="Calibri"/>
              </a:defRPr>
            </a:pPr>
            <a:r>
              <a:t>G₂: Hoot → Pant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2697480"/>
            <a:ext cx="914400" cy="0"/>
          </a:xfrm>
          <a:prstGeom prst="line">
            <a:avLst/>
          </a:prstGeom>
          <a:ln w="25400">
            <a:solidFill>
              <a:srgbClr val="2B6C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086600" y="3017520"/>
            <a:ext cx="457200" cy="731519"/>
          </a:xfrm>
          <a:prstGeom prst="line">
            <a:avLst/>
          </a:prstGeom>
          <a:ln w="25400">
            <a:solidFill>
              <a:srgbClr val="2B6C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7800" y="3017520"/>
            <a:ext cx="457200" cy="731519"/>
          </a:xfrm>
          <a:prstGeom prst="line">
            <a:avLst/>
          </a:prstGeom>
          <a:ln w="25400">
            <a:solidFill>
              <a:srgbClr val="2B6C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54880" y="4663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1B1B"/>
                </a:solidFill>
              </a:defRPr>
            </a:pPr>
            <a:r>
              <a:t>Cycle Loss = | Original Pant − Reconstructed Pant |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Low loss = good fit  •  High loss = different dialect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623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Operates on 768-dim AVEX embeddings extracted from audio recordings, not on raw audio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50876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4B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96596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1.  Extract AVEX embeddings from .wav files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2.  Standardize embeddings per community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3.  Train CycleGAN on Kasekela (5-fold CV)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4.  Apply to Kasekela, Mitumba, Kanyawara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5.  Compare cycle reconstruction loss</a:t>
            </a:r>
          </a:p>
          <a:p>
            <a:pPr>
              <a:spcAft>
                <a:spcPts val="500"/>
              </a:spcAft>
              <a:defRPr sz="1200">
                <a:solidFill>
                  <a:srgbClr val="1B1B1B"/>
                </a:solidFill>
                <a:latin typeface="Calibri"/>
              </a:defRPr>
            </a:pPr>
            <a:r>
              <a:t>6.  Statistical tests (Mann-Whitney U, permutation tests, bootstrap CI)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4B"/>
                </a:solidFill>
                <a:latin typeface="Calibri"/>
              </a:defRPr>
            </a:pPr>
            <a:r>
              <a:t>Model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8463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B1B1B"/>
                </a:solidFill>
                <a:latin typeface="Calibri"/>
              </a:defRPr>
            </a:pPr>
            <a:r>
              <a:t>• Generators: 4-layer MLP (512 hidden dims)</a:t>
            </a:r>
          </a:p>
          <a:p>
            <a:pPr>
              <a:spcAft>
                <a:spcPts val="400"/>
              </a:spcAft>
              <a:defRPr sz="1100">
                <a:solidFill>
                  <a:srgbClr val="1B1B1B"/>
                </a:solidFill>
                <a:latin typeface="Calibri"/>
              </a:defRPr>
            </a:pPr>
            <a:r>
              <a:t>• Cycle weight: λ = 20.0 (heavy emphasis)</a:t>
            </a:r>
          </a:p>
          <a:p>
            <a:pPr>
              <a:spcAft>
                <a:spcPts val="400"/>
              </a:spcAft>
              <a:defRPr sz="1100">
                <a:solidFill>
                  <a:srgbClr val="1B1B1B"/>
                </a:solidFill>
                <a:latin typeface="Calibri"/>
              </a:defRPr>
            </a:pPr>
            <a:r>
              <a:t>• 5-fold cross-validation, early stopping</a:t>
            </a:r>
          </a:p>
          <a:p>
            <a:pPr>
              <a:spcAft>
                <a:spcPts val="400"/>
              </a:spcAft>
              <a:defRPr sz="1100">
                <a:solidFill>
                  <a:srgbClr val="1B1B1B"/>
                </a:solidFill>
                <a:latin typeface="Calibri"/>
              </a:defRPr>
            </a:pPr>
            <a:r>
              <a:t>• Unpaired learning — no matched pant-hoot pairs needed</a:t>
            </a:r>
          </a:p>
          <a:p>
            <a:pPr>
              <a:spcAft>
                <a:spcPts val="400"/>
              </a:spcAft>
              <a:defRPr sz="1100">
                <a:solidFill>
                  <a:srgbClr val="1B1B1B"/>
                </a:solidFill>
                <a:latin typeface="Calibri"/>
              </a:defRPr>
            </a:pPr>
            <a:r>
              <a:t>• Validated via within-community sanity checks (SL vs. GIM opposing dialects)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